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4" r:id="rId12"/>
    <p:sldId id="268" r:id="rId13"/>
    <p:sldId id="269" r:id="rId14"/>
    <p:sldId id="270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943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B970"/>
                </a:solidFill>
                <a:latin typeface="Aptos"/>
              </a:rPr>
              <a:t>FINAL PROJECT  | 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498079" cy="12344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Bayesian Deep Learning-Based
SIC Failure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777240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9BE1DC"/>
                </a:solidFill>
                <a:latin typeface="Aptos"/>
              </a:rPr>
              <a:t>Reliability-Aware User Scheduling for
Imperfect-SIC NOMA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840480"/>
            <a:ext cx="914400" cy="64008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4160520"/>
            <a:ext cx="7680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Course: 25SC2107E  •  Department of ECE  •  A.Y.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709160"/>
            <a:ext cx="6858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3CFE0"/>
                </a:solidFill>
                <a:latin typeface="Aptos"/>
              </a:rPr>
              <a:t>Project team: [Add names and roll numbers]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074920"/>
            <a:ext cx="5486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3CFE0"/>
                </a:solidFill>
                <a:latin typeface="Aptos"/>
              </a:rPr>
              <a:t>Guide: [Add guide name]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82912" y="1307592"/>
            <a:ext cx="1143000" cy="731520"/>
          </a:xfrm>
          <a:prstGeom prst="line">
            <a:avLst/>
          </a:prstGeom>
          <a:ln w="16510">
            <a:solidFill>
              <a:srgbClr val="4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125712" y="1307592"/>
            <a:ext cx="457200" cy="1600200"/>
          </a:xfrm>
          <a:prstGeom prst="line">
            <a:avLst/>
          </a:prstGeom>
          <a:ln w="16510">
            <a:solidFill>
              <a:srgbClr val="4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80192" y="2039112"/>
            <a:ext cx="45720" cy="1783079"/>
          </a:xfrm>
          <a:prstGeom prst="line">
            <a:avLst/>
          </a:prstGeom>
          <a:ln w="16510">
            <a:solidFill>
              <a:srgbClr val="4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25712" y="2907792"/>
            <a:ext cx="320040" cy="2057400"/>
          </a:xfrm>
          <a:prstGeom prst="line">
            <a:avLst/>
          </a:prstGeom>
          <a:ln w="16510">
            <a:solidFill>
              <a:srgbClr val="4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680192" y="3822191"/>
            <a:ext cx="594360" cy="1325881"/>
          </a:xfrm>
          <a:prstGeom prst="line">
            <a:avLst/>
          </a:prstGeom>
          <a:ln w="16510">
            <a:solidFill>
              <a:srgbClr val="4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45752" y="4965192"/>
            <a:ext cx="1828800" cy="182880"/>
          </a:xfrm>
          <a:prstGeom prst="line">
            <a:avLst/>
          </a:prstGeom>
          <a:ln w="16510">
            <a:solidFill>
              <a:srgbClr val="4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25712" y="2907792"/>
            <a:ext cx="1554480" cy="914399"/>
          </a:xfrm>
          <a:prstGeom prst="line">
            <a:avLst/>
          </a:prstGeom>
          <a:ln w="16510">
            <a:solidFill>
              <a:srgbClr val="4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418320" y="1143000"/>
            <a:ext cx="384048" cy="384048"/>
          </a:xfrm>
          <a:prstGeom prst="ellipse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61320" y="1874519"/>
            <a:ext cx="384048" cy="384048"/>
          </a:xfrm>
          <a:prstGeom prst="ellipse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61120" y="2743200"/>
            <a:ext cx="384048" cy="384048"/>
          </a:xfrm>
          <a:prstGeom prst="ellipse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15600" y="3657600"/>
            <a:ext cx="384048" cy="384048"/>
          </a:xfrm>
          <a:prstGeom prst="ellipse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81160" y="4800600"/>
            <a:ext cx="384048" cy="384048"/>
          </a:xfrm>
          <a:prstGeom prst="ellipse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9960" y="4983480"/>
            <a:ext cx="384048" cy="384048"/>
          </a:xfrm>
          <a:prstGeom prst="ellipse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608076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C3CFE0"/>
                </a:solidFill>
                <a:latin typeface="Aptos"/>
              </a:rPr>
              <a:t>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Abstract • the complete idea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02/15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6583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828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918B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76272"/>
            <a:ext cx="5897880" cy="10058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62A48"/>
                </a:solidFill>
                <a:latin typeface="Aptos"/>
              </a:rPr>
              <a:t>Estimate the likelihood of Successive Interference Cancellation (SIC) failure under imperfect NOMA conditions, then use prediction risk and uncertainty to guide user pairing.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828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F8B37"/>
                </a:solidFill>
                <a:latin typeface="Aptos"/>
              </a:rP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58978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D6C80"/>
                </a:solidFill>
                <a:latin typeface="Aptos"/>
              </a:rPr>
              <a:t>A supervised neural classifier learns from simulated wireless-condition features. Repeated stochastic predictions provide a mean risk estimate and a prediction-standard-deviation measure. A cost-based scheduler selects lower-risk pairs.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08760"/>
            <a:ext cx="3703320" cy="425196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1828800"/>
            <a:ext cx="3063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B970"/>
                </a:solidFill>
                <a:latin typeface="Aptos"/>
              </a:rPr>
              <a:t>CURRENT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423160"/>
            <a:ext cx="1325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74152" y="2532888"/>
            <a:ext cx="11795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918B"/>
                </a:solidFill>
                <a:latin typeface="Aptos"/>
              </a:rPr>
              <a:t>0.928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17520"/>
            <a:ext cx="114300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ROC–AUC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2423160"/>
            <a:ext cx="1325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28632" y="2532888"/>
            <a:ext cx="11795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EF8B37"/>
                </a:solidFill>
                <a:latin typeface="Aptos"/>
              </a:rPr>
              <a:t>0.925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19" y="3017520"/>
            <a:ext cx="114300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Reliability*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840480"/>
            <a:ext cx="306324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*From one 40-pair scheduling run. Results are preliminary and based on synthetic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983480"/>
            <a:ext cx="306324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3CFE0"/>
                </a:solidFill>
                <a:latin typeface="Aptos"/>
              </a:rPr>
              <a:t>Focus: a working prediction-to-scheduling pipeline, with further validation still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Background: NOMA and Imperfect SIC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Why the receiver needs reliable cancellation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03/15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8580" cy="18288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30449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1  NOMA transmission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3063240" cy="1161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D6C80"/>
                </a:solidFill>
                <a:latin typeface="Aptos"/>
              </a:defRPr>
            </a:pPr>
            <a:r>
              <a:t>•  Multiple users share time/frequency resources</a:t>
            </a:r>
          </a:p>
          <a:p>
            <a:pPr>
              <a:spcAft>
                <a:spcPts val="600"/>
              </a:spcAft>
              <a:defRPr sz="1300">
                <a:solidFill>
                  <a:srgbClr val="5D6C80"/>
                </a:solidFill>
                <a:latin typeface="Aptos"/>
              </a:defRPr>
            </a:pPr>
            <a:r>
              <a:t>•  Signals are superimposed using different power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8580" cy="182880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55063"/>
            <a:ext cx="30449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2  SIC receiver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75688"/>
            <a:ext cx="3063240" cy="1161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D6C80"/>
                </a:solidFill>
                <a:latin typeface="Aptos"/>
              </a:defRPr>
            </a:pPr>
            <a:r>
              <a:t>•  Receiver decodes a signal and subtracts it</a:t>
            </a:r>
          </a:p>
          <a:p>
            <a:pPr>
              <a:spcAft>
                <a:spcPts val="600"/>
              </a:spcAft>
              <a:defRPr sz="1300">
                <a:solidFill>
                  <a:srgbClr val="5D6C80"/>
                </a:solidFill>
                <a:latin typeface="Aptos"/>
              </a:defRPr>
            </a:pPr>
            <a:r>
              <a:t>•  Residual interference remains if decoding/cancellation is imperfect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68580" cy="18288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55063"/>
            <a:ext cx="30449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3  Network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75688"/>
            <a:ext cx="3063240" cy="1161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D6C80"/>
                </a:solidFill>
                <a:latin typeface="Aptos"/>
              </a:defRPr>
            </a:pPr>
            <a:r>
              <a:t>•  SIC failure can raise BER and outage</a:t>
            </a:r>
          </a:p>
          <a:p>
            <a:pPr>
              <a:spcAft>
                <a:spcPts val="600"/>
              </a:spcAft>
              <a:defRPr sz="1300">
                <a:solidFill>
                  <a:srgbClr val="5D6C80"/>
                </a:solidFill>
                <a:latin typeface="Aptos"/>
              </a:defRPr>
            </a:pPr>
            <a:r>
              <a:t>•  Useful throughput and reliability may decrease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2423160"/>
            <a:ext cx="210312" cy="0"/>
          </a:xfrm>
          <a:prstGeom prst="line">
            <a:avLst/>
          </a:prstGeom>
          <a:ln w="25400">
            <a:solidFill>
              <a:srgbClr val="EF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18120" y="2423160"/>
            <a:ext cx="210311" cy="0"/>
          </a:xfrm>
          <a:prstGeom prst="line">
            <a:avLst/>
          </a:prstGeom>
          <a:ln w="25400">
            <a:solidFill>
              <a:srgbClr val="EF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886200"/>
            <a:ext cx="4754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A48"/>
                </a:solidFill>
                <a:latin typeface="Aptos"/>
              </a:rPr>
              <a:t>Sources of imperfect SIC in our simulation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80560"/>
            <a:ext cx="1554480" cy="457200"/>
          </a:xfrm>
          <a:prstGeom prst="roundRect">
            <a:avLst/>
          </a:prstGeom>
          <a:solidFill>
            <a:srgbClr val="D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4517136"/>
            <a:ext cx="14447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2A48"/>
                </a:solidFill>
                <a:latin typeface="Aptos"/>
              </a:rPr>
              <a:t>Noise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4480560"/>
            <a:ext cx="1554480" cy="457200"/>
          </a:xfrm>
          <a:prstGeom prst="roundRect">
            <a:avLst/>
          </a:prstGeom>
          <a:solidFill>
            <a:srgbClr val="FC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86584" y="4517136"/>
            <a:ext cx="14447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2A48"/>
                </a:solidFill>
                <a:latin typeface="Aptos"/>
              </a:rPr>
              <a:t>Interference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4480560"/>
            <a:ext cx="1554480" cy="457200"/>
          </a:xfrm>
          <a:prstGeom prst="roundRect">
            <a:avLst/>
          </a:prstGeom>
          <a:solidFill>
            <a:srgbClr val="D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06824" y="4517136"/>
            <a:ext cx="14447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2A48"/>
                </a:solidFill>
                <a:latin typeface="Aptos"/>
              </a:rPr>
              <a:t>Channel variation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480560"/>
            <a:ext cx="1554480" cy="457200"/>
          </a:xfrm>
          <a:prstGeom prst="roundRect">
            <a:avLst/>
          </a:prstGeom>
          <a:solidFill>
            <a:srgbClr val="FC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01383" y="4517136"/>
            <a:ext cx="14447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2A48"/>
                </a:solidFill>
                <a:latin typeface="Aptos"/>
              </a:rPr>
              <a:t>Estimation error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4480560"/>
            <a:ext cx="1554480" cy="457200"/>
          </a:xfrm>
          <a:prstGeom prst="roundRect">
            <a:avLst/>
          </a:prstGeom>
          <a:solidFill>
            <a:srgbClr val="D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13064" y="4517136"/>
            <a:ext cx="14447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2A48"/>
                </a:solidFill>
                <a:latin typeface="Aptos"/>
              </a:rPr>
              <a:t>Power gap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80" y="4480560"/>
            <a:ext cx="1554480" cy="457200"/>
          </a:xfrm>
          <a:prstGeom prst="roundRect">
            <a:avLst/>
          </a:prstGeom>
          <a:solidFill>
            <a:srgbClr val="FC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67544" y="4517136"/>
            <a:ext cx="14447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2A48"/>
                </a:solidFill>
                <a:latin typeface="Aptos"/>
              </a:rPr>
              <a:t>Mobility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918B"/>
                </a:solidFill>
                <a:latin typeface="Aptos"/>
              </a:rPr>
              <a:t>Motivation: use estimated failure risk before committing users to pairs.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Problem Definition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What the project is designed to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04/15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8580" cy="361188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482803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46320" cy="2944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D6C80"/>
                </a:solidFill>
                <a:latin typeface="Aptos"/>
              </a:defRPr>
            </a:pPr>
            <a:r>
              <a:t>•  Conventional pairing rules do not directly use a learned SIC-failure probability</a:t>
            </a:r>
          </a:p>
          <a:p>
            <a:pPr>
              <a:spcAft>
                <a:spcPts val="600"/>
              </a:spcAft>
              <a:defRPr sz="1500">
                <a:solidFill>
                  <a:srgbClr val="5D6C80"/>
                </a:solidFill>
                <a:latin typeface="Aptos"/>
              </a:defRPr>
            </a:pPr>
            <a:r>
              <a:t>•  A probability estimate alone may hide prediction instability</a:t>
            </a:r>
          </a:p>
          <a:p>
            <a:pPr>
              <a:spcAft>
                <a:spcPts val="600"/>
              </a:spcAft>
              <a:defRPr sz="1500">
                <a:solidFill>
                  <a:srgbClr val="5D6C80"/>
                </a:solidFill>
                <a:latin typeface="Aptos"/>
              </a:defRPr>
            </a:pPr>
            <a:r>
              <a:t>•  Scheduling decisions should account for both estimated risk and uncertainty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68580" cy="36118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55063"/>
            <a:ext cx="482803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75688"/>
            <a:ext cx="4846320" cy="2944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D6C80"/>
                </a:solidFill>
                <a:latin typeface="Aptos"/>
              </a:defRPr>
            </a:pPr>
            <a:r>
              <a:t>•  Train a binary classifier for SIC failure / non-failure</a:t>
            </a:r>
          </a:p>
          <a:p>
            <a:pPr>
              <a:spcAft>
                <a:spcPts val="600"/>
              </a:spcAft>
              <a:defRPr sz="1500">
                <a:solidFill>
                  <a:srgbClr val="5D6C80"/>
                </a:solidFill>
                <a:latin typeface="Aptos"/>
              </a:defRPr>
            </a:pPr>
            <a:r>
              <a:t>•  Estimate uncertainty using repeated stochastic inference</a:t>
            </a:r>
          </a:p>
          <a:p>
            <a:pPr>
              <a:spcAft>
                <a:spcPts val="600"/>
              </a:spcAft>
              <a:defRPr sz="1500">
                <a:solidFill>
                  <a:srgbClr val="5D6C80"/>
                </a:solidFill>
                <a:latin typeface="Aptos"/>
              </a:defRPr>
            </a:pPr>
            <a:r>
              <a:t>•  Define a risk-plus-uncertainty cost for candidate pairs</a:t>
            </a:r>
          </a:p>
          <a:p>
            <a:pPr>
              <a:spcAft>
                <a:spcPts val="600"/>
              </a:spcAft>
              <a:defRPr sz="1500">
                <a:solidFill>
                  <a:srgbClr val="5D6C80"/>
                </a:solidFill>
                <a:latin typeface="Aptos"/>
              </a:defRPr>
            </a:pPr>
            <a:r>
              <a:t>•  Compare the proposed scheduler with an SNR-based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440680"/>
            <a:ext cx="9875520" cy="59436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5596128"/>
            <a:ext cx="94183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Research question: does uncertainty-aware pairing improve simulated reliability metrics?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Proposed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The final pipeline implemented in the project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05/15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16642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1536192"/>
            <a:ext cx="640080" cy="384048"/>
          </a:xfrm>
          <a:prstGeom prst="round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" y="1572768"/>
            <a:ext cx="530352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31720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2A48"/>
                </a:solidFill>
                <a:latin typeface="Aptos"/>
              </a:rPr>
              <a:t>Synthetic SIC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055789"/>
            <a:ext cx="1444752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IN" sz="1100" dirty="0">
                <a:solidFill>
                  <a:srgbClr val="5D6C80"/>
                </a:solidFill>
                <a:latin typeface="Aptos"/>
              </a:rPr>
              <a:t>60</a:t>
            </a:r>
            <a:r>
              <a:rPr sz="1100" b="0" i="0" dirty="0">
                <a:solidFill>
                  <a:srgbClr val="5D6C80"/>
                </a:solidFill>
                <a:latin typeface="Aptos"/>
              </a:rPr>
              <a:t>,000 samples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67128" y="2880360"/>
            <a:ext cx="256032" cy="0"/>
          </a:xfrm>
          <a:prstGeom prst="line">
            <a:avLst/>
          </a:prstGeom>
          <a:ln w="25400">
            <a:solidFill>
              <a:srgbClr val="EF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9736" y="2011680"/>
            <a:ext cx="16642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62656" y="1536192"/>
            <a:ext cx="640080" cy="384048"/>
          </a:xfrm>
          <a:prstGeom prst="round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1572768"/>
            <a:ext cx="530352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2331720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2A48"/>
                </a:solidFill>
                <a:latin typeface="Aptos"/>
              </a:rP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9464" y="2944368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80/20 split
standardization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3944" y="2880360"/>
            <a:ext cx="256032" cy="0"/>
          </a:xfrm>
          <a:prstGeom prst="line">
            <a:avLst/>
          </a:prstGeom>
          <a:ln w="25400">
            <a:solidFill>
              <a:srgbClr val="EF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16552" y="2011680"/>
            <a:ext cx="16642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19472" y="1536192"/>
            <a:ext cx="640080" cy="384048"/>
          </a:xfrm>
          <a:prstGeom prst="round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74336" y="1572768"/>
            <a:ext cx="530352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331720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2A48"/>
                </a:solidFill>
                <a:latin typeface="Aptos"/>
              </a:rPr>
              <a:t>Train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944368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32 ReLU units
sigmoid output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880360"/>
            <a:ext cx="256032" cy="0"/>
          </a:xfrm>
          <a:prstGeom prst="line">
            <a:avLst/>
          </a:prstGeom>
          <a:ln w="25400">
            <a:solidFill>
              <a:srgbClr val="EF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73368" y="2011680"/>
            <a:ext cx="16642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76288" y="1536192"/>
            <a:ext cx="640080" cy="384048"/>
          </a:xfrm>
          <a:prstGeom prst="round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1" y="1572768"/>
            <a:ext cx="530352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2331720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2A48"/>
                </a:solidFill>
                <a:latin typeface="Aptos"/>
              </a:rPr>
              <a:t>Repeated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2944368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Mean risk + std.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37575" y="2880360"/>
            <a:ext cx="256033" cy="0"/>
          </a:xfrm>
          <a:prstGeom prst="line">
            <a:avLst/>
          </a:prstGeom>
          <a:ln w="25400">
            <a:solidFill>
              <a:srgbClr val="EF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30184" y="2011680"/>
            <a:ext cx="16642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33104" y="1536192"/>
            <a:ext cx="640080" cy="384048"/>
          </a:xfrm>
          <a:prstGeom prst="round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87968" y="1572768"/>
            <a:ext cx="530352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2331720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2A48"/>
                </a:solidFill>
                <a:latin typeface="Aptos"/>
              </a:rPr>
              <a:t>Pair scheduling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2944368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Risk + uncertainty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94392" y="2880360"/>
            <a:ext cx="256032" cy="0"/>
          </a:xfrm>
          <a:prstGeom prst="line">
            <a:avLst/>
          </a:prstGeom>
          <a:ln w="25400">
            <a:solidFill>
              <a:srgbClr val="EF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287000" y="2011680"/>
            <a:ext cx="16642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789920" y="1536192"/>
            <a:ext cx="640080" cy="384048"/>
          </a:xfrm>
          <a:prstGeom prst="round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844784" y="1572768"/>
            <a:ext cx="530352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96728" y="2331720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2A48"/>
                </a:solidFill>
                <a:latin typeface="Aptos"/>
              </a:rPr>
              <a:t>Evaluate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96728" y="2944368"/>
            <a:ext cx="1444752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BER / outage / 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A48"/>
                </a:solidFill>
                <a:latin typeface="Aptos"/>
              </a:rPr>
              <a:t>Code organization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4892040"/>
            <a:ext cx="10652760" cy="731520"/>
          </a:xfrm>
          <a:prstGeom prst="round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0120" y="5093208"/>
            <a:ext cx="102412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2A48"/>
                </a:solidFill>
                <a:latin typeface="Aptos"/>
              </a:rPr>
              <a:t>data_generation.py  •  preprocessing.py  •  bayesian_model.py  •  scheduling.py  •  performance.py  •  visualization.py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897880"/>
            <a:ext cx="10332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main.py orchestrates the end-to-end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Dataset and Model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Feature inputs, training configuration and prediction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06/15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1865376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IN" sz="2600" b="1" dirty="0">
                <a:solidFill>
                  <a:srgbClr val="00918B"/>
                </a:solidFill>
                <a:latin typeface="Aptos"/>
              </a:rPr>
              <a:t>60</a:t>
            </a:r>
            <a:r>
              <a:rPr sz="2600" b="1" i="0" dirty="0">
                <a:solidFill>
                  <a:srgbClr val="00918B"/>
                </a:solidFill>
                <a:latin typeface="Aptos"/>
              </a:rPr>
              <a:t>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828800" cy="39319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synthetic attempts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12" y="1527048"/>
            <a:ext cx="18653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EF8B37"/>
                </a:solidFill>
                <a:latin typeface="Aptos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11680"/>
            <a:ext cx="1828800" cy="39319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input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41732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02352" y="1527048"/>
            <a:ext cx="18653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918B"/>
                </a:solidFill>
                <a:latin typeface="Aptos"/>
              </a:rPr>
              <a:t>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011680"/>
            <a:ext cx="1828800" cy="39319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epochs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41732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51192" y="1527048"/>
            <a:ext cx="18653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EF8B37"/>
                </a:solidFill>
                <a:latin typeface="Aptos"/>
              </a:rPr>
              <a:t>128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2011680"/>
            <a:ext cx="1828800" cy="39319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batch 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41732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00032" y="1527048"/>
            <a:ext cx="18653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918B"/>
                </a:solidFill>
                <a:latin typeface="Aptos"/>
              </a:rPr>
              <a:t>0.001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011680"/>
            <a:ext cx="1828800" cy="39319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learning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880360"/>
            <a:ext cx="51663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2880360"/>
            <a:ext cx="68580" cy="233172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026664"/>
            <a:ext cx="478231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Features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47288"/>
            <a:ext cx="4800600" cy="166420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SNR, channel gain, received power, interference</a:t>
            </a:r>
          </a:p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Channel-estimation error and power gap</a:t>
            </a:r>
          </a:p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Mobility and user distance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880360"/>
            <a:ext cx="51663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2880360"/>
            <a:ext cx="68580" cy="233172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3026664"/>
            <a:ext cx="478231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Classifier 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47288"/>
            <a:ext cx="4800600" cy="166420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StandardScaler → Dense(32, ReLU)</a:t>
            </a:r>
          </a:p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Dropout(0.25) → Sigmoid output</a:t>
            </a:r>
          </a:p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Binary cross-entropy; stratified 80/20 split; seed 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D6C80"/>
                </a:solidFill>
                <a:latin typeface="Aptos"/>
              </a:rPr>
              <a:t>Label: SIC failure (0/1). The data are synthetic, generated by the project’s imperfect-SIC simulation.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Uncertainty Estimation with Repeated Inference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How one trained network gives both a risk estimate and a confidence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07/15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30000"/>
            <a:ext cx="246888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680000"/>
            <a:ext cx="548640" cy="330000"/>
          </a:xfrm>
          <a:prstGeom prst="round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80000"/>
            <a:ext cx="548640" cy="33000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90000"/>
            <a:ext cx="2286000" cy="33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Input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90000"/>
            <a:ext cx="2286000" cy="95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One user pair's 8 wireless features, standardized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530000"/>
            <a:ext cx="292608" cy="0"/>
          </a:xfrm>
          <a:prstGeom prst="line">
            <a:avLst/>
          </a:prstGeom>
          <a:ln w="22225">
            <a:solidFill>
              <a:srgbClr val="EF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93008" y="1830000"/>
            <a:ext cx="246888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84448" y="1680000"/>
            <a:ext cx="548640" cy="330000"/>
          </a:xfrm>
          <a:prstGeom prst="round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84448" y="1680000"/>
            <a:ext cx="548640" cy="33000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090000"/>
            <a:ext cx="2286000" cy="33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Stochastic passes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490000"/>
            <a:ext cx="2286000" cy="95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Dropout(0.25) stays active; the pair is predicted T times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61888" y="2530000"/>
            <a:ext cx="292608" cy="0"/>
          </a:xfrm>
          <a:prstGeom prst="line">
            <a:avLst/>
          </a:prstGeom>
          <a:ln w="22225">
            <a:solidFill>
              <a:srgbClr val="EF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54496" y="1830000"/>
            <a:ext cx="246888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45936" y="1680000"/>
            <a:ext cx="548640" cy="330000"/>
          </a:xfrm>
          <a:prstGeom prst="round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680000"/>
            <a:ext cx="548640" cy="33000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090000"/>
            <a:ext cx="2286000" cy="33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Set of 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490000"/>
            <a:ext cx="2286000" cy="95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One failure probability per pass; the values differ slightly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23376" y="2530000"/>
            <a:ext cx="292608" cy="0"/>
          </a:xfrm>
          <a:prstGeom prst="line">
            <a:avLst/>
          </a:prstGeom>
          <a:ln w="22225">
            <a:solidFill>
              <a:srgbClr val="EF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15984" y="1830000"/>
            <a:ext cx="246888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07424" y="1680000"/>
            <a:ext cx="548640" cy="330000"/>
          </a:xfrm>
          <a:prstGeom prst="round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07424" y="1680000"/>
            <a:ext cx="548640" cy="33000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2090000"/>
            <a:ext cx="2286000" cy="33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Risk + uncertainty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2490000"/>
            <a:ext cx="2286000" cy="95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Mean → P̂ (risk)   |   Std. dev. → U (uncertainty)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50000"/>
            <a:ext cx="4480560" cy="220000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3790000"/>
            <a:ext cx="402336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8B37"/>
                </a:solidFill>
                <a:latin typeface="Aptos"/>
              </a:rPr>
              <a:t>WHAT IS COMPUTED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50000"/>
            <a:ext cx="4023360" cy="56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P̂ = (1/T) Σ pₜ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850000"/>
            <a:ext cx="4023360" cy="56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U = √[ (1/T) Σ (pₜ − P̂)²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30000"/>
            <a:ext cx="402336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BE1DC"/>
                </a:solidFill>
                <a:latin typeface="Aptos"/>
              </a:rPr>
              <a:t>These two numbers feed the pair cost.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650000"/>
            <a:ext cx="5943600" cy="220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0" y="3650000"/>
            <a:ext cx="68580" cy="2200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87568" y="3796303"/>
            <a:ext cx="555960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Why U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216928"/>
            <a:ext cx="5577840" cy="1560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D6C80"/>
                </a:solidFill>
                <a:latin typeface="Aptos"/>
              </a:rPr>
              <a:t>•  Two pairs can share the same P̂ but differ in stability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D6C80"/>
                </a:solidFill>
                <a:latin typeface="Aptos"/>
              </a:rPr>
              <a:t>•  Large U flags a prediction the model is unsure about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D6C80"/>
                </a:solidFill>
                <a:latin typeface="Aptos"/>
              </a:rPr>
              <a:t>•  Cost penalises both risk and uncertainty (weight 0.50)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080760"/>
            <a:ext cx="10698480" cy="26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5D6C80"/>
                </a:solidFill>
                <a:latin typeface="Aptos"/>
              </a:rPr>
              <a:t>Measured on the test set: mean prediction std. = 0.097. Repeated passes approximate Bayesian predictive uncertainty.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Reliability-Aware Scheduling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The scheduler uses predicted failure probability and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08/15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074920" cy="361188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4343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B970"/>
                </a:solidFill>
                <a:latin typeface="Aptos"/>
              </a:rPr>
              <a:t>PAIR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452628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Cᵢⱼ = P̂(SIC failure) + 0.50 × 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37560"/>
            <a:ext cx="434340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C3CFE0"/>
                </a:solidFill>
                <a:latin typeface="Aptos"/>
              </a:rPr>
              <a:t>P̂ = mean predicted failure probability
U = prediction standard 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89120"/>
            <a:ext cx="4343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9BE1DC"/>
                </a:solidFill>
                <a:latin typeface="Aptos"/>
              </a:rPr>
              <a:t>Choose a minimum-cost matching.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8580" cy="1508760"/>
          </a:xfrm>
          <a:prstGeom prst="rect">
            <a:avLst/>
          </a:prstGeom>
          <a:solidFill>
            <a:srgbClr val="5D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655063"/>
            <a:ext cx="469087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Conventional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75688"/>
            <a:ext cx="4709159" cy="84124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D6C80"/>
                </a:solidFill>
                <a:latin typeface="Aptos"/>
              </a:defRPr>
            </a:pPr>
            <a:r>
              <a:t>•  Sort users by SNR; pair strongest with weakest, then continue inward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461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3246120"/>
            <a:ext cx="68580" cy="15087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3392424"/>
            <a:ext cx="469087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Reliability-aware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813048"/>
            <a:ext cx="4709159" cy="84124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D6C80"/>
                </a:solidFill>
                <a:latin typeface="Aptos"/>
              </a:defRPr>
            </a:pPr>
            <a:r>
              <a:t>•  Score candidate pairs using risk + uncertainty, then select lower-cost 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166360"/>
            <a:ext cx="4846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Evaluation setup: 80 users → 40 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5D6C80"/>
                </a:solidFill>
                <a:latin typeface="Aptos"/>
              </a:rPr>
              <a:t>The weight 0.50 is a design setting; sensitivity testing is future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Scheduling Walk-Through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From 80 users to 40 NOMA pairs in one scheduling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09/15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0000"/>
            <a:ext cx="6858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720000"/>
            <a:ext cx="480000" cy="480000"/>
          </a:xfrm>
          <a:prstGeom prst="ellipse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20000"/>
            <a:ext cx="480000" cy="48000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0000" y="1610000"/>
            <a:ext cx="59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Enumerate candidates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0000" y="1920000"/>
            <a:ext cx="5900000" cy="4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80 users can form up to 3,160 distinct pairs (80 choose 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70000"/>
            <a:ext cx="6858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2790000"/>
            <a:ext cx="480000" cy="480000"/>
          </a:xfrm>
          <a:prstGeom prst="ellipse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90000"/>
            <a:ext cx="480000" cy="48000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0000" y="2680000"/>
            <a:ext cx="59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Predict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0000" y="2990000"/>
            <a:ext cx="5900000" cy="4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The classifier gives each pair a mean failure probability P̂ and uncertainty 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40000"/>
            <a:ext cx="6858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3860000"/>
            <a:ext cx="480000" cy="480000"/>
          </a:xfrm>
          <a:prstGeom prst="ellipse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860000"/>
            <a:ext cx="480000" cy="48000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0000" y="3750000"/>
            <a:ext cx="59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Score and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0000" y="4060000"/>
            <a:ext cx="5900000" cy="4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Cost Cᵢⱼ = P̂ + 0.50 × U; a minimum-cost matching puts every user in exactly one pair.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10000"/>
            <a:ext cx="6858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4930000"/>
            <a:ext cx="480000" cy="480000"/>
          </a:xfrm>
          <a:prstGeom prst="ellipse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930000"/>
            <a:ext cx="480000" cy="48000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0000" y="4820000"/>
            <a:ext cx="59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0000" y="5130000"/>
            <a:ext cx="5900000" cy="4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Simulate both schedules on the same 80 users; record failure, BER, outage, rate, reliability.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1500000"/>
            <a:ext cx="3566160" cy="383000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63840" y="1650000"/>
            <a:ext cx="316616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EF8B37"/>
                </a:solidFill>
                <a:latin typeface="Aptos"/>
              </a:rPr>
              <a:t>SAME SCENARIO, TWO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3840" y="2000000"/>
            <a:ext cx="3166160" cy="6500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80 → 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3840" y="2650000"/>
            <a:ext cx="316616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BE1DC"/>
                </a:solidFill>
                <a:latin typeface="Aptos"/>
              </a:rPr>
              <a:t>users → pairs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3840" y="3080000"/>
            <a:ext cx="2966160" cy="9000"/>
          </a:xfrm>
          <a:prstGeom prst="rect">
            <a:avLst/>
          </a:prstGeom>
          <a:solidFill>
            <a:srgbClr val="5D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3840" y="3200000"/>
            <a:ext cx="3066160" cy="19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F8B37"/>
                </a:solidFill>
                <a:latin typeface="Aptos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C3CFE0"/>
                </a:solidFill>
                <a:latin typeface="Aptos"/>
              </a:rPr>
              <a:t>Sort by SNR; pair strongest with weakest, then inward</a:t>
            </a:r>
          </a:p>
          <a:p>
            <a:pPr algn="l">
              <a:spcAft>
                <a:spcPts val="300"/>
              </a:spcAft>
            </a:pPr>
            <a:endParaRPr sz="1200" b="0" i="0">
              <a:solidFill>
                <a:srgbClr val="C3CFE0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9BE1DC"/>
                </a:solidFill>
                <a:latin typeface="Aptos"/>
              </a:rPr>
              <a:t>Reliability-aware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C3CFE0"/>
                </a:solidFill>
                <a:latin typeface="Aptos"/>
              </a:rPr>
              <a:t>Pick lower-cost pairs from risk + uncertainty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50000"/>
            <a:ext cx="1069848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0918B"/>
                </a:solidFill>
                <a:latin typeface="Aptos"/>
              </a:rPr>
              <a:t>Only the pairing rule changes between the two methods, so the metric differences come from scheduling.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Experimental Setup &amp;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Simulation ranges and how performance is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10/15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8580" cy="3566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478231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Wireless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00600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User distance: 40–500 m</a:t>
            </a:r>
          </a:p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Transmit power: 18–32 dBm</a:t>
            </a:r>
          </a:p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Noise power: −100 dBm</a:t>
            </a:r>
          </a:p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Interference sampled around −112 to −78 dBm</a:t>
            </a:r>
          </a:p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Imperfect-SIC effects include estimation error, power gap and mobility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68580" cy="356616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55063"/>
            <a:ext cx="478231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75688"/>
            <a:ext cx="4800600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Predictor: accuracy, ROC–AUC, Brier score and mean prediction standard deviation</a:t>
            </a:r>
          </a:p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Scheduler: predicted/observed SIC failure, BER, outage, throughput and reliability</a:t>
            </a:r>
          </a:p>
          <a:p>
            <a:pPr>
              <a:spcAft>
                <a:spcPts val="600"/>
              </a:spcAft>
              <a:defRPr sz="1400">
                <a:solidFill>
                  <a:srgbClr val="5D6C80"/>
                </a:solidFill>
                <a:latin typeface="Aptos"/>
              </a:defRPr>
            </a:pPr>
            <a:r>
              <a:t>•  Baseline and proposed method evaluated using the same 80-user scenario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440680"/>
            <a:ext cx="1965960" cy="502920"/>
          </a:xfrm>
          <a:prstGeom prst="roundRect">
            <a:avLst/>
          </a:prstGeom>
          <a:solidFill>
            <a:srgbClr val="D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0704" y="5477256"/>
            <a:ext cx="1856231" cy="4297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A48"/>
                </a:solidFill>
                <a:latin typeface="Aptos"/>
              </a:rPr>
              <a:t>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5440680"/>
            <a:ext cx="1965960" cy="502920"/>
          </a:xfrm>
          <a:prstGeom prst="roundRect">
            <a:avLst/>
          </a:prstGeom>
          <a:solidFill>
            <a:srgbClr val="FC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00984" y="5477256"/>
            <a:ext cx="1856231" cy="4297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A48"/>
                </a:solidFill>
                <a:latin typeface="Aptos"/>
              </a:rPr>
              <a:t>Probability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5440680"/>
            <a:ext cx="1965960" cy="502920"/>
          </a:xfrm>
          <a:prstGeom prst="roundRect">
            <a:avLst/>
          </a:prstGeom>
          <a:solidFill>
            <a:srgbClr val="D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41264" y="5477256"/>
            <a:ext cx="1856231" cy="4297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A48"/>
                </a:solidFill>
                <a:latin typeface="Aptos"/>
              </a:rPr>
              <a:t>Link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5440680"/>
            <a:ext cx="1965960" cy="502920"/>
          </a:xfrm>
          <a:prstGeom prst="roundRect">
            <a:avLst/>
          </a:prstGeom>
          <a:solidFill>
            <a:srgbClr val="FC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81544" y="5477256"/>
            <a:ext cx="1856231" cy="4297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A48"/>
                </a:solidFill>
                <a:latin typeface="Aptos"/>
              </a:rPr>
              <a:t>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80760"/>
            <a:ext cx="105156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D6C80"/>
                </a:solidFill>
                <a:latin typeface="Aptos"/>
              </a:rPr>
              <a:t>Results below are from the current implementation and one stochastic scheduling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Results &amp;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Predictor test metrics and current 40-pair scheduling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11/15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A48"/>
                </a:solidFill>
                <a:latin typeface="Aptos"/>
              </a:rPr>
              <a:t>A. SIC failure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892807"/>
            <a:ext cx="2185415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918B"/>
                </a:solidFill>
                <a:latin typeface="Aptos"/>
              </a:rPr>
              <a:t>84.6%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2148839" cy="39319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test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78308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4992" y="1892807"/>
            <a:ext cx="2185415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EF8B37"/>
                </a:solidFill>
                <a:latin typeface="Aptos"/>
              </a:rPr>
              <a:t>0.928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77440"/>
            <a:ext cx="2148839" cy="39319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ROC–AUC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78308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79592" y="1892807"/>
            <a:ext cx="2185415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918B"/>
                </a:solidFill>
                <a:latin typeface="Aptos"/>
              </a:rPr>
              <a:t>0.122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2377440"/>
            <a:ext cx="2148839" cy="39319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Brier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78308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1892807"/>
            <a:ext cx="2185415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EF8B37"/>
                </a:solidFill>
                <a:latin typeface="Aptos"/>
              </a:rPr>
              <a:t>0.097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2148839" cy="39319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mean prediction std.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A48"/>
                </a:solidFill>
                <a:latin typeface="Aptos"/>
              </a:rPr>
              <a:t>B. Scheduling comparison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611880"/>
            <a:ext cx="3602736" cy="384048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685032"/>
            <a:ext cx="342900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11880"/>
            <a:ext cx="2779776" cy="384048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685032"/>
            <a:ext cx="260604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Conventional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611880"/>
            <a:ext cx="3145536" cy="384048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0" y="3685032"/>
            <a:ext cx="297180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Reliability-aware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995928"/>
            <a:ext cx="360273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050791"/>
            <a:ext cx="342900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ptos"/>
              </a:rPr>
              <a:t>Observed SIC failure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3995928"/>
            <a:ext cx="277977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4050791"/>
            <a:ext cx="260604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ptos"/>
              </a:rPr>
              <a:t>7.5%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3995928"/>
            <a:ext cx="314553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0" y="4050791"/>
            <a:ext cx="297180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1915F"/>
                </a:solidFill>
                <a:latin typeface="Aptos"/>
              </a:rPr>
              <a:t>0.0%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379976"/>
            <a:ext cx="360273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434840"/>
            <a:ext cx="342900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ptos"/>
              </a:rPr>
              <a:t>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379976"/>
            <a:ext cx="277977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4434840"/>
            <a:ext cx="260604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ptos"/>
              </a:rPr>
              <a:t>0.069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4379976"/>
            <a:ext cx="314553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0" y="4434840"/>
            <a:ext cx="297180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1915F"/>
                </a:solidFill>
                <a:latin typeface="Aptos"/>
              </a:rPr>
              <a:t>0.039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764024"/>
            <a:ext cx="360273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18888"/>
            <a:ext cx="342900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ptos"/>
              </a:rPr>
              <a:t>Outage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4764024"/>
            <a:ext cx="277977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0" y="4818888"/>
            <a:ext cx="260604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ptos"/>
              </a:rPr>
              <a:t>15.0%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4764024"/>
            <a:ext cx="314553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06640" y="4818888"/>
            <a:ext cx="297180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1915F"/>
                </a:solidFill>
                <a:latin typeface="Aptos"/>
              </a:rPr>
              <a:t>7.5%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5148072"/>
            <a:ext cx="360273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" y="5202936"/>
            <a:ext cx="342900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ptos"/>
              </a:rPr>
              <a:t>Throughput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5148072"/>
            <a:ext cx="277977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0" y="5202936"/>
            <a:ext cx="260604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ptos"/>
              </a:rPr>
              <a:t>36.06 Mbps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5148072"/>
            <a:ext cx="314553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06640" y="5202936"/>
            <a:ext cx="297180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1915F"/>
                </a:solidFill>
                <a:latin typeface="Aptos"/>
              </a:rPr>
              <a:t>37.39 Mbps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5532120"/>
            <a:ext cx="360273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4400" y="5586984"/>
            <a:ext cx="342900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ptos"/>
              </a:rPr>
              <a:t>Reliability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5532120"/>
            <a:ext cx="277977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0" y="5586984"/>
            <a:ext cx="260604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ptos"/>
              </a:rPr>
              <a:t>0.850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0" y="5532120"/>
            <a:ext cx="3145536" cy="361187"/>
          </a:xfrm>
          <a:prstGeom prst="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06640" y="5586984"/>
            <a:ext cx="2971800" cy="2103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1915F"/>
                </a:solidFill>
                <a:latin typeface="Aptos"/>
              </a:rPr>
              <a:t>0.925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6080760"/>
            <a:ext cx="103327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5D6C80"/>
                </a:solidFill>
                <a:latin typeface="Aptos"/>
              </a:rPr>
              <a:t>Interpretation: this run favoured reliability-aware scheduling. Because the run is stochastic and the data are synthetic, repeat trials are needed before claiming general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Model Evaluation Plots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Calibration, epistemic uncertainty and error rate from the project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12/15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80000"/>
            <a:ext cx="10698480" cy="316837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72f4ffb9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20" y="1600000"/>
            <a:ext cx="10458480" cy="292837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868374"/>
            <a:ext cx="3400000" cy="115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4868374"/>
            <a:ext cx="68580" cy="1150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958374"/>
            <a:ext cx="31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62A48"/>
                </a:solidFill>
                <a:latin typeface="Aptos"/>
              </a:rPr>
              <a:t>Reliability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78374"/>
            <a:ext cx="3100000" cy="7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DeepEnsemble stays close to the ideal diagonal; LogReg deviates in the mid-range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0760" y="4868374"/>
            <a:ext cx="3400000" cy="115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0760" y="4868374"/>
            <a:ext cx="68580" cy="115000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3640" y="4958374"/>
            <a:ext cx="31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62A48"/>
                </a:solidFill>
                <a:latin typeface="Aptos"/>
              </a:rPr>
              <a:t>Epistemic uncertainty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640" y="5278374"/>
            <a:ext cx="3100000" cy="7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Shifted (bad CSI) inputs show a wider, higher mutual-information spread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0000" y="4868374"/>
            <a:ext cx="3400000" cy="115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30000" y="4868374"/>
            <a:ext cx="68580" cy="1150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2880" y="4958374"/>
            <a:ext cx="31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62A48"/>
                </a:solidFill>
                <a:latin typeface="Aptos"/>
              </a:rPr>
              <a:t>Error vs 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2880" y="5278374"/>
            <a:ext cx="3100000" cy="7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Misclassification rises from ~0 in low quintiles to ~12% in the top quintile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Key Findings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What the current evidence supports, and what it does not yet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13/15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80000"/>
            <a:ext cx="2468880" cy="145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80000"/>
            <a:ext cx="2468880" cy="4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918B"/>
                </a:solidFill>
                <a:latin typeface="Aptos"/>
              </a:rPr>
              <a:t>0.928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1520" y="2080000"/>
            <a:ext cx="2348880" cy="2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A48"/>
                </a:solidFill>
                <a:latin typeface="Aptos"/>
              </a:rPr>
              <a:t>predictor ROC–AUC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520" y="2380000"/>
            <a:ext cx="2308880" cy="5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Risk score separates failure from non-failure well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6400" y="1480000"/>
            <a:ext cx="2468880" cy="145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6400" y="1580000"/>
            <a:ext cx="2468880" cy="4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918B"/>
                </a:solidFill>
                <a:latin typeface="Aptos"/>
              </a:rPr>
              <a:t>3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6400" y="2080000"/>
            <a:ext cx="2348880" cy="2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A48"/>
                </a:solidFill>
                <a:latin typeface="Aptos"/>
              </a:rPr>
              <a:t>pairs failing SIC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6400" y="2380000"/>
            <a:ext cx="2308880" cy="5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7.5% of 40 pairs became 0.0%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1280" y="1480000"/>
            <a:ext cx="2468880" cy="145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1280" y="1580000"/>
            <a:ext cx="2468880" cy="4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EF8B37"/>
                </a:solidFill>
                <a:latin typeface="Aptos"/>
              </a:rPr>
              <a:t>6 →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280" y="2080000"/>
            <a:ext cx="2348880" cy="2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A48"/>
                </a:solidFill>
                <a:latin typeface="Aptos"/>
              </a:rPr>
              <a:t>pairs in outage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280" y="2380000"/>
            <a:ext cx="2308880" cy="5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15.0% fell to 7.5%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6160" y="1480000"/>
            <a:ext cx="2468880" cy="145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6160" y="1580000"/>
            <a:ext cx="2468880" cy="4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EF8B37"/>
                </a:solidFill>
                <a:latin typeface="Aptos"/>
              </a:rPr>
              <a:t>0.925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6160" y="2080000"/>
            <a:ext cx="2348880" cy="28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A48"/>
                </a:solidFill>
                <a:latin typeface="Aptos"/>
              </a:rPr>
              <a:t>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6160" y="2380000"/>
            <a:ext cx="2308880" cy="5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Up from 0.850 under the SNR 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00000"/>
            <a:ext cx="5212080" cy="235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200000"/>
            <a:ext cx="68580" cy="2350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346303"/>
            <a:ext cx="482808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What supports the approach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66928"/>
            <a:ext cx="4846320" cy="1710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D6C80"/>
                </a:solidFill>
                <a:latin typeface="Aptos"/>
              </a:rPr>
              <a:t>•  Lower predicted risk translated into fewer observed failures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D6C80"/>
                </a:solidFill>
                <a:latin typeface="Aptos"/>
              </a:rPr>
              <a:t>•  BER and outage both improved, not only one metric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D6C80"/>
                </a:solidFill>
                <a:latin typeface="Aptos"/>
              </a:rPr>
              <a:t>•  Throughput also rose, so reliability gains did not cost rate in this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200000"/>
            <a:ext cx="5212080" cy="235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200000"/>
            <a:ext cx="68580" cy="235000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346303"/>
            <a:ext cx="482808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A48"/>
                </a:solidFill>
                <a:latin typeface="Aptos"/>
              </a:rPr>
              <a:t>What we cannot yet claim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66928"/>
            <a:ext cx="4846320" cy="1710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D6C80"/>
                </a:solidFill>
                <a:latin typeface="Aptos"/>
              </a:rPr>
              <a:t>•  Results come from one stochastic run of 40 pairs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D6C80"/>
                </a:solidFill>
                <a:latin typeface="Aptos"/>
              </a:rPr>
              <a:t>•  Data are synthetic, so real-network gains are untested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D6C80"/>
                </a:solidFill>
                <a:latin typeface="Aptos"/>
              </a:rPr>
              <a:t>•  The contribution of U alone is not isolated (no ablation yet)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5760000"/>
            <a:ext cx="9875520" cy="48000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5760000"/>
            <a:ext cx="9875520" cy="4800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Takeaway: a promising prototype result that motivates repeated trials, not a proven improvement.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6984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A48"/>
                </a:solidFill>
                <a:latin typeface="Aptos"/>
              </a:rPr>
              <a:t>Limitations &amp; Validity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9436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14984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6C80"/>
                </a:solidFill>
                <a:latin typeface="Aptos"/>
              </a:rPr>
              <a:t>Where the prototype is limited, and the planned remedy for each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D6C80"/>
                </a:solidFill>
                <a:latin typeface="Aptos"/>
              </a:rPr>
              <a:t>FINAL PRESENTATION   •   14/15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20000"/>
            <a:ext cx="53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D6C80"/>
                </a:solidFill>
                <a:latin typeface="Aptos"/>
              </a:rPr>
              <a:t>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000" y="1420000"/>
            <a:ext cx="50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918B"/>
                </a:solidFill>
                <a:latin typeface="Aptos"/>
              </a:rPr>
              <a:t>PLANNED REMEDY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60000"/>
            <a:ext cx="5300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60000"/>
            <a:ext cx="68580" cy="92000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860000"/>
            <a:ext cx="50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Synthetic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90000"/>
            <a:ext cx="5000000" cy="46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Simulated imperfect-SIC conditions may not match real channels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30000" y="2100000"/>
            <a:ext cx="200000" cy="240000"/>
          </a:xfrm>
          <a:prstGeom prst="rightArrow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000" y="1760000"/>
            <a:ext cx="5030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000" y="1760000"/>
            <a:ext cx="68580" cy="920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000" y="1860000"/>
            <a:ext cx="4700000" cy="7200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62A48"/>
                </a:solidFill>
                <a:latin typeface="Aptos"/>
              </a:rPr>
              <a:t>Validate on a larger dataset or an independently verified simulator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20000"/>
            <a:ext cx="5300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820000"/>
            <a:ext cx="68580" cy="92000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2920000"/>
            <a:ext cx="50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Single scheduling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250000"/>
            <a:ext cx="5000000" cy="46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One stochastic run of 40 pairs gives no variance estimate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30000" y="3160000"/>
            <a:ext cx="200000" cy="240000"/>
          </a:xfrm>
          <a:prstGeom prst="rightArrow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000" y="2820000"/>
            <a:ext cx="5030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000" y="2820000"/>
            <a:ext cx="68580" cy="920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000" y="2920000"/>
            <a:ext cx="4700000" cy="7200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62A48"/>
                </a:solidFill>
                <a:latin typeface="Aptos"/>
              </a:rPr>
              <a:t>Repeat trials and report mean ± standard deviation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80000"/>
            <a:ext cx="5300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3880000"/>
            <a:ext cx="68580" cy="92000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3980000"/>
            <a:ext cx="50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Fixed uncertainty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310000"/>
            <a:ext cx="5000000" cy="46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The 0.50 weight in the pair cost is a design choice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130000" y="4220000"/>
            <a:ext cx="200000" cy="240000"/>
          </a:xfrm>
          <a:prstGeom prst="rightArrow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000" y="3880000"/>
            <a:ext cx="5030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000" y="3880000"/>
            <a:ext cx="68580" cy="920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1000" y="3980000"/>
            <a:ext cx="4700000" cy="7200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62A48"/>
                </a:solidFill>
                <a:latin typeface="Aptos"/>
              </a:rPr>
              <a:t>Run a sensitivity sweep over the weight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940000"/>
            <a:ext cx="5300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4940000"/>
            <a:ext cx="68580" cy="920000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040000"/>
            <a:ext cx="500000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A48"/>
                </a:solidFill>
                <a:latin typeface="Aptos"/>
              </a:rPr>
              <a:t>Probability calibration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370000"/>
            <a:ext cx="5000000" cy="46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C80"/>
                </a:solidFill>
                <a:latin typeface="Aptos"/>
              </a:rPr>
              <a:t>Accuracy is from one 80/20 split; calibration is unchecked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130000" y="5280000"/>
            <a:ext cx="200000" cy="240000"/>
          </a:xfrm>
          <a:prstGeom prst="rightArrow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00000" y="4940000"/>
            <a:ext cx="5030000" cy="9200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000" y="4940000"/>
            <a:ext cx="68580" cy="920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01000" y="5040000"/>
            <a:ext cx="4700000" cy="7200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62A48"/>
                </a:solidFill>
                <a:latin typeface="Aptos"/>
              </a:rPr>
              <a:t>Stratified k-fold cross-validation and calibration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50000"/>
            <a:ext cx="10698480" cy="300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0918B"/>
                </a:solidFill>
                <a:latin typeface="Aptos"/>
              </a:rPr>
              <a:t>These are the same steps listed under Future Work on the final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94360"/>
            <a:ext cx="4846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B970"/>
                </a:solidFill>
                <a:latin typeface="Aptos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777240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Prediction informs scheduling.
Uncertainty adds caution.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97840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3CFE0"/>
                </a:solidFill>
                <a:latin typeface="Aptos"/>
              </a:rPr>
              <a:t>The project delivers an end-to-end prototype that predicts SIC failure risk and uses risk plus prediction uncertainty to form NOMA user pairs.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914400" cy="54864"/>
          </a:xfrm>
          <a:prstGeom prst="rect">
            <a:avLst/>
          </a:prstGeom>
          <a:solidFill>
            <a:srgbClr val="EF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0116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9BE1DC"/>
                </a:solidFill>
                <a:latin typeface="Aptos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9966960" cy="1325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Evaluate on a larger dataset or independently validated simulator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Run repeated trials and report mean ± standard deviation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Add stratified k-fold cross-validation and probability calibration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Study sensitivity to the uncertainty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36576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B970"/>
                </a:solidFill>
                <a:latin typeface="Aptos"/>
              </a:rPr>
              <a:t>Thank you  • 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473952"/>
            <a:ext cx="26060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C3CFE0"/>
                </a:solidFill>
                <a:latin typeface="Aptos"/>
              </a:rPr>
              <a:t>FINAL PRESENTATION   • 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1633</Words>
  <Application>Microsoft Office PowerPoint</Application>
  <PresentationFormat>Widescreen</PresentationFormat>
  <Paragraphs>272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kireeti potluri</cp:lastModifiedBy>
  <cp:revision>2</cp:revision>
  <dcterms:created xsi:type="dcterms:W3CDTF">2013-01-27T09:14:16Z</dcterms:created>
  <dcterms:modified xsi:type="dcterms:W3CDTF">2026-10-15T03:37:30Z</dcterms:modified>
  <cp:category/>
</cp:coreProperties>
</file>