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8D0DD5-FAB5-4105-82C1-A8D2F360AB09}" v="7" dt="2026-09-30T05:25:00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eeti potluri" userId="7136a5e1172845f8" providerId="LiveId" clId="{EA83D340-E807-40FC-9733-A1AB8F19BA0A}"/>
    <pc:docChg chg="custSel modSld">
      <pc:chgData name="kireeti potluri" userId="7136a5e1172845f8" providerId="LiveId" clId="{EA83D340-E807-40FC-9733-A1AB8F19BA0A}" dt="2026-09-30T05:25:04.854" v="37"/>
      <pc:docMkLst>
        <pc:docMk/>
      </pc:docMkLst>
      <pc:sldChg chg="addSp delSp modSp mod">
        <pc:chgData name="kireeti potluri" userId="7136a5e1172845f8" providerId="LiveId" clId="{EA83D340-E807-40FC-9733-A1AB8F19BA0A}" dt="2026-09-30T05:25:04.854" v="37"/>
        <pc:sldMkLst>
          <pc:docMk/>
          <pc:sldMk cId="0" sldId="256"/>
        </pc:sldMkLst>
        <pc:spChg chg="add del mod">
          <ac:chgData name="kireeti potluri" userId="7136a5e1172845f8" providerId="LiveId" clId="{EA83D340-E807-40FC-9733-A1AB8F19BA0A}" dt="2026-09-30T05:24:32.058" v="2"/>
          <ac:spMkLst>
            <pc:docMk/>
            <pc:sldMk cId="0" sldId="256"/>
            <ac:spMk id="10" creationId="{A1FAADEF-D99A-6288-03EF-02D5C9A4C46B}"/>
          </ac:spMkLst>
        </pc:spChg>
        <pc:spChg chg="add del mod">
          <ac:chgData name="kireeti potluri" userId="7136a5e1172845f8" providerId="LiveId" clId="{EA83D340-E807-40FC-9733-A1AB8F19BA0A}" dt="2026-09-30T05:24:33.607" v="4" actId="478"/>
          <ac:spMkLst>
            <pc:docMk/>
            <pc:sldMk cId="0" sldId="256"/>
            <ac:spMk id="11" creationId="{0DEC6CB0-9A5B-28B3-6871-1FC8C667E0D6}"/>
          </ac:spMkLst>
        </pc:spChg>
        <pc:spChg chg="add del mod">
          <ac:chgData name="kireeti potluri" userId="7136a5e1172845f8" providerId="LiveId" clId="{EA83D340-E807-40FC-9733-A1AB8F19BA0A}" dt="2026-09-30T05:24:43.354" v="7"/>
          <ac:spMkLst>
            <pc:docMk/>
            <pc:sldMk cId="0" sldId="256"/>
            <ac:spMk id="12" creationId="{A3B275BA-6CD7-2FC1-2A42-0F5F0785960A}"/>
          </ac:spMkLst>
        </pc:spChg>
        <pc:spChg chg="add del mod">
          <ac:chgData name="kireeti potluri" userId="7136a5e1172845f8" providerId="LiveId" clId="{EA83D340-E807-40FC-9733-A1AB8F19BA0A}" dt="2026-09-30T05:24:45.195" v="10"/>
          <ac:spMkLst>
            <pc:docMk/>
            <pc:sldMk cId="0" sldId="256"/>
            <ac:spMk id="13" creationId="{1974C4A3-9841-C23C-5DCE-6C662B264CD8}"/>
          </ac:spMkLst>
        </pc:spChg>
        <pc:spChg chg="add del mod">
          <ac:chgData name="kireeti potluri" userId="7136a5e1172845f8" providerId="LiveId" clId="{EA83D340-E807-40FC-9733-A1AB8F19BA0A}" dt="2026-09-30T05:24:46.189" v="13"/>
          <ac:spMkLst>
            <pc:docMk/>
            <pc:sldMk cId="0" sldId="256"/>
            <ac:spMk id="14" creationId="{632407DA-3A1F-5277-DBD6-6002C766052F}"/>
          </ac:spMkLst>
        </pc:spChg>
        <pc:spChg chg="add del mod">
          <ac:chgData name="kireeti potluri" userId="7136a5e1172845f8" providerId="LiveId" clId="{EA83D340-E807-40FC-9733-A1AB8F19BA0A}" dt="2026-09-30T05:25:00.666" v="24"/>
          <ac:spMkLst>
            <pc:docMk/>
            <pc:sldMk cId="0" sldId="256"/>
            <ac:spMk id="15" creationId="{8C6BF0A8-F4B1-69FD-7C04-42F631B36616}"/>
          </ac:spMkLst>
        </pc:spChg>
        <pc:spChg chg="add del mod">
          <ac:chgData name="kireeti potluri" userId="7136a5e1172845f8" providerId="LiveId" clId="{EA83D340-E807-40FC-9733-A1AB8F19BA0A}" dt="2026-09-30T05:25:04.854" v="37"/>
          <ac:spMkLst>
            <pc:docMk/>
            <pc:sldMk cId="0" sldId="256"/>
            <ac:spMk id="16" creationId="{1DAA9F56-AEBD-DC5D-3876-DAC3382620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94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A9B8"/>
                </a:solidFill>
                <a:latin typeface="Aptos"/>
              </a:defRPr>
            </a:pPr>
            <a:r>
              <a:t>MACHINE LEARNING •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607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Bayesian Deep Learning-Based</a:t>
            </a:r>
            <a:br/>
            <a:r>
              <a:t>SIC Failure Prediction and</a:t>
            </a:r>
            <a:br/>
            <a:r>
              <a:t>Reliability-Aware User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461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CDDCEB"/>
                </a:solidFill>
                <a:latin typeface="Aptos"/>
              </a:defRPr>
            </a:pPr>
            <a:r>
              <a:t>for Imperfect-SIC NOMA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A9B8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983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P. Kethan — 2520040033</a:t>
            </a:r>
            <a:br/>
            <a:r>
              <a:t>P. Kireeti — 2520040034</a:t>
            </a:r>
            <a:br/>
            <a:r>
              <a:t>B. Shanmukh Pranay — 2520040070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9834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DDCEB"/>
                </a:solidFill>
                <a:latin typeface="Aptos"/>
              </a:defRPr>
            </a:pPr>
            <a:r>
              <a:t>Course: 25SC2107E  |  Department of ECE</a:t>
            </a:r>
            <a:br/>
            <a:r>
              <a:t>A.Y. 2026–27  |  Guide: Mr. N. Lava Prasad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25780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73152" cy="1965960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188719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C31"/>
                </a:solidFill>
                <a:latin typeface="Aptos"/>
              </a:defRPr>
            </a:pPr>
            <a:r>
              <a:t>Why the problem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48920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A"/>
                </a:solidFill>
                <a:latin typeface="Aptos"/>
              </a:defRPr>
            </a:pPr>
            <a:r>
              <a:t>NOMA allows multiple users to share the same time/frequency resources. At the receiver, SIC is required to separate superimposed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246120"/>
            <a:ext cx="525780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3246120"/>
            <a:ext cx="73152" cy="1965960"/>
          </a:xfrm>
          <a:prstGeom prst="rect">
            <a:avLst/>
          </a:prstGeom>
          <a:solidFill>
            <a:srgbClr val="E2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3383279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C31"/>
                </a:solidFill>
                <a:latin typeface="Aptos"/>
              </a:defRPr>
            </a:pPr>
            <a:r>
              <a:t>Problem in imperfect 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776472"/>
            <a:ext cx="48920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A"/>
                </a:solidFill>
                <a:latin typeface="Aptos"/>
              </a:defRPr>
            </a:pPr>
            <a:r>
              <a:t>Noise, interference, channel variation, channel-estimation error and decoding errors can make SIC unreliable. A failure can increase BER, outage and reduce useful throughput.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0789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11C31"/>
                </a:solidFill>
                <a:latin typeface="Aptos"/>
              </a:defRPr>
            </a:pPr>
            <a:r>
              <a:t>What our project tries to predict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91640"/>
            <a:ext cx="4389120" cy="530352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6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Wireless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SNR • channel • power • interference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60" y="2496312"/>
            <a:ext cx="0" cy="256032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2834640"/>
            <a:ext cx="4389120" cy="530352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SIC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Probability of cancellation failure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0" y="3639312"/>
            <a:ext cx="0" cy="256032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3977639"/>
            <a:ext cx="4389120" cy="530352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28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Uncertainty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7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How confident is the prediction?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5360" y="4782312"/>
            <a:ext cx="0" cy="256032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5120640"/>
            <a:ext cx="4389120" cy="530352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9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69279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Choose lower-risk user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t>Machine Learning • 2nd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Proposed Methodology /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11C31"/>
                </a:solidFill>
                <a:latin typeface="Aptos"/>
              </a:defRPr>
            </a:pPr>
            <a:r>
              <a:t>Core idea: predict SIC failure probability first, then use risk + uncertainty for pairing.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828800" cy="960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6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1"/>
                </a:solidFill>
                <a:latin typeface="Aptos"/>
              </a:defRPr>
            </a:pPr>
            <a:r>
              <a:t>1. Generate / collect</a:t>
            </a:r>
            <a:br/>
            <a:r>
              <a:t>NOMA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600200"/>
            <a:ext cx="1828800" cy="960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1"/>
                </a:solidFill>
                <a:latin typeface="Aptos"/>
              </a:defRPr>
            </a:pPr>
            <a:r>
              <a:t>2. Preprocess</a:t>
            </a:r>
            <a:br/>
            <a:r>
              <a:t>+ standardize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600200"/>
            <a:ext cx="1828800" cy="960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28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1"/>
                </a:solidFill>
                <a:latin typeface="Aptos"/>
              </a:defRPr>
            </a:pPr>
            <a:r>
              <a:t>3. Train neural classifier</a:t>
            </a:r>
            <a:br/>
            <a:r>
              <a:t>neural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600200"/>
            <a:ext cx="1828800" cy="960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9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1"/>
                </a:solidFill>
                <a:latin typeface="Aptos"/>
              </a:defRPr>
            </a:pPr>
            <a:r>
              <a:t>4. Repeated inference:</a:t>
            </a:r>
            <a:br/>
            <a:r>
              <a:t>mean + uncertainty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600200"/>
            <a:ext cx="1828800" cy="960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6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C31"/>
                </a:solidFill>
                <a:latin typeface="Aptos"/>
              </a:defRPr>
            </a:pPr>
            <a:r>
              <a:t>5. Reliability-aware</a:t>
            </a:r>
            <a:br/>
            <a:r>
              <a:t>user pairing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084831"/>
            <a:ext cx="292607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2084831"/>
            <a:ext cx="292608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2084831"/>
            <a:ext cx="292608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15400" y="2084831"/>
            <a:ext cx="292608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2971800"/>
            <a:ext cx="352044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971800"/>
            <a:ext cx="73152" cy="2423160"/>
          </a:xfrm>
          <a:prstGeom prst="rect">
            <a:avLst/>
          </a:prstGeom>
          <a:solidFill>
            <a:srgbClr val="E2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31089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Bayesian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502152"/>
            <a:ext cx="315468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D3A"/>
                </a:solidFill>
                <a:latin typeface="Aptos"/>
              </a:defRPr>
            </a:pPr>
            <a:r>
              <a:t>• One hidden layer: 32 ReLU units</a:t>
            </a:r>
            <a:br/>
            <a:r>
              <a:t>• Dropout = 0.25 during training/inference</a:t>
            </a:r>
            <a:br/>
            <a:r>
              <a:t>• 40 repeated predictions for uncertainty estimation</a:t>
            </a:r>
            <a:br/>
            <a:r>
              <a:t>• Mean probability = predicted SIC risk</a:t>
            </a:r>
            <a:br/>
            <a:r>
              <a:t>• Standard deviation = uncertainty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971800"/>
            <a:ext cx="352044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2971800"/>
            <a:ext cx="73152" cy="2423160"/>
          </a:xfrm>
          <a:prstGeom prst="rect">
            <a:avLst/>
          </a:prstGeom>
          <a:solidFill>
            <a:srgbClr val="2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17136" y="31089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Reliability-aware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3502152"/>
            <a:ext cx="315468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D3A"/>
                </a:solidFill>
                <a:latin typeface="Aptos"/>
              </a:defRPr>
            </a:pPr>
            <a:r>
              <a:t>For each strong/weak candidate pair:</a:t>
            </a:r>
            <a:br/>
            <a:br/>
            <a:r>
              <a:t>pair cost = predicted failure probability</a:t>
            </a:r>
            <a:br/>
            <a:r>
              <a:t>+ 0.50 × prediction uncertainty</a:t>
            </a:r>
            <a:br/>
            <a:br/>
            <a:r>
              <a:t>Minimum-cost matching is then selected.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5" y="2971800"/>
            <a:ext cx="352044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7575" y="2971800"/>
            <a:ext cx="73152" cy="2423160"/>
          </a:xfrm>
          <a:prstGeom prst="rect">
            <a:avLst/>
          </a:prstGeom>
          <a:solidFill>
            <a:srgbClr val="26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38744" y="31089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3502152"/>
            <a:ext cx="315468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D3A"/>
                </a:solidFill>
                <a:latin typeface="Aptos"/>
              </a:defRPr>
            </a:pPr>
            <a:r>
              <a:t>Conventional NOMA pairing:</a:t>
            </a:r>
            <a:br/>
            <a:br/>
            <a:r>
              <a:t>• Sort users by SNR</a:t>
            </a:r>
            <a:br/>
            <a:r>
              <a:t>• Pair strongest with weakest</a:t>
            </a:r>
            <a:br/>
            <a:r>
              <a:t>• Continue inward</a:t>
            </a:r>
            <a:br/>
            <a:br/>
            <a:r>
              <a:t>Both methods use the same near/far candidate pools.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t>Source: project implementation (prediction + scheduling modules)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Dataset, Features and ML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111C31"/>
                </a:solidFill>
                <a:latin typeface="Aptos"/>
              </a:defRPr>
            </a:pPr>
            <a:r>
              <a:t>Synthetic dataset generated from a physically motivated imperfect-SIC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1691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27632"/>
            <a:ext cx="1472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676B2"/>
                </a:solidFill>
                <a:latin typeface="Aptos"/>
              </a:defRPr>
            </a:pPr>
            <a:r>
              <a:rPr lang="en-IN" dirty="0"/>
              <a:t>60</a:t>
            </a:r>
            <a:r>
              <a:rPr dirty="0"/>
              <a:t>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21408"/>
            <a:ext cx="1472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synthetic SIC attempts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2" y="1481328"/>
            <a:ext cx="1691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1627632"/>
            <a:ext cx="1472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A9B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21408"/>
            <a:ext cx="1472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481328"/>
            <a:ext cx="1691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1627632"/>
            <a:ext cx="1472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8F33"/>
                </a:solidFill>
                <a:latin typeface="Aptos"/>
              </a:defRPr>
            </a:pPr>
            <a:r>
              <a:t>80/20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2121408"/>
            <a:ext cx="1472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train / test split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481328"/>
            <a:ext cx="1691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4" y="1627632"/>
            <a:ext cx="1472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9668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121408"/>
            <a:ext cx="1472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training epochs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1481328"/>
            <a:ext cx="1691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5" y="1627632"/>
            <a:ext cx="1472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676B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9015" y="2121408"/>
            <a:ext cx="1472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Repeated 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481328"/>
            <a:ext cx="169164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85248" y="1627632"/>
            <a:ext cx="14721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A9B8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121408"/>
            <a:ext cx="147218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hidden units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2926080"/>
            <a:ext cx="53035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2926080"/>
            <a:ext cx="73152" cy="2423160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306324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Input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456432"/>
            <a:ext cx="4937759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A"/>
                </a:solidFill>
                <a:latin typeface="Aptos"/>
              </a:defRPr>
            </a:pPr>
            <a:r>
              <a:t>SNR • channel gain • received power • interference</a:t>
            </a:r>
            <a:br/>
            <a:r>
              <a:t>channel-estimation error • power gap • mobility • user distance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926080"/>
            <a:ext cx="5303520" cy="24231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2926080"/>
            <a:ext cx="73152" cy="2423160"/>
          </a:xfrm>
          <a:prstGeom prst="rect">
            <a:avLst/>
          </a:prstGeom>
          <a:solidFill>
            <a:srgbClr val="E2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306324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ML formulation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456432"/>
            <a:ext cx="4937759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A"/>
                </a:solidFill>
                <a:latin typeface="Aptos"/>
              </a:defRPr>
            </a:pPr>
            <a:r>
              <a:t>Binary supervised classification:</a:t>
            </a:r>
            <a:br/>
            <a:r>
              <a:t>target = SIC failure (0/1)</a:t>
            </a:r>
            <a:br/>
            <a:br/>
            <a:r>
              <a:t>StandardScaler → Dense(32, ReLU) → Dropout(0.25) → Sigmoid</a:t>
            </a:r>
            <a:br/>
            <a:r>
              <a:t>Training uses mini-batch gradient descent + binary cross-entropy.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t>Course alignment: supervised learning, preprocessing and classification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Project Workflow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11C31"/>
                </a:solidFill>
                <a:latin typeface="Aptos"/>
              </a:defRPr>
            </a:pPr>
            <a:r>
              <a:t>End-to-end execution in main.py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297180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6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Data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22576"/>
            <a:ext cx="2971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rPr lang="en-IN" dirty="0"/>
              <a:t>60</a:t>
            </a:r>
            <a:r>
              <a:rPr dirty="0"/>
              <a:t>,000 samples</a:t>
            </a:r>
            <a:br>
              <a:rPr dirty="0"/>
            </a:br>
            <a:r>
              <a:rPr dirty="0"/>
              <a:t>synthetic NOMA/SIC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30752" y="1911095"/>
            <a:ext cx="457200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572768"/>
            <a:ext cx="297180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2257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stratified split</a:t>
            </a:r>
            <a:br/>
            <a:r>
              <a:t>standardization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0" y="1911094"/>
            <a:ext cx="457200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83880" y="1572768"/>
            <a:ext cx="297180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28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32257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55 epochs</a:t>
            </a:r>
            <a:br/>
            <a:r>
              <a:t>BCE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439685"/>
            <a:ext cx="297180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9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Repeated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28853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rPr dirty="0"/>
              <a:t>40 repeated predictions</a:t>
            </a:r>
            <a:br>
              <a:rPr dirty="0"/>
            </a:br>
            <a:r>
              <a:rPr dirty="0"/>
              <a:t>mean + std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3877056"/>
            <a:ext cx="457200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3538728"/>
            <a:ext cx="297180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67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Scheduling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28853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80 users</a:t>
            </a:r>
            <a:br/>
            <a:r>
              <a:t>40 pairs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0" y="3877056"/>
            <a:ext cx="457200" cy="0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94360" y="3547872"/>
            <a:ext cx="2971800" cy="685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11C3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288536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rPr dirty="0"/>
              <a:t>BER • outage</a:t>
            </a:r>
            <a:br>
              <a:rPr dirty="0"/>
            </a:br>
            <a:r>
              <a:rPr dirty="0"/>
              <a:t>throughput • reliability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10415016" y="2574036"/>
            <a:ext cx="0" cy="553212"/>
          </a:xfrm>
          <a:prstGeom prst="line">
            <a:avLst/>
          </a:prstGeom>
          <a:ln w="25400">
            <a:solidFill>
              <a:srgbClr val="30A9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C31"/>
                </a:solidFill>
                <a:latin typeface="Aptos"/>
              </a:defRPr>
            </a:pPr>
            <a:r>
              <a:t>Code modules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596128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A"/>
                </a:solidFill>
                <a:latin typeface="Aptos"/>
              </a:defRPr>
            </a:pPr>
            <a:r>
              <a:t>data_generation.py  •  preprocessing.py  •  bayesian_model.py  •  scheduling.py  •  performance.py  •  visualization.py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t>Source: project README + main.py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EA2481-12E3-17E7-585B-B86C08C5F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897880"/>
            <a:ext cx="7620660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Simulation /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73152" cy="1920240"/>
          </a:xfrm>
          <a:prstGeom prst="rect">
            <a:avLst/>
          </a:prstGeom>
          <a:solidFill>
            <a:srgbClr val="26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Channel / link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490472"/>
            <a:ext cx="31089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A"/>
                </a:solidFill>
                <a:latin typeface="Aptos"/>
              </a:defRPr>
            </a:pPr>
            <a:r>
              <a:t>Distance: 40–500 m</a:t>
            </a:r>
            <a:br/>
            <a:r>
              <a:t>Tx power: 18–32 dBm</a:t>
            </a:r>
            <a:br/>
            <a:r>
              <a:t>Noise: −100 dBm</a:t>
            </a:r>
            <a:br/>
            <a:r>
              <a:t>Interference sampled around −112 to −78 dBm</a:t>
            </a:r>
            <a:br/>
            <a:r>
              <a:t>Imperfect-SIC effects include estimation error, power gap and mobility.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96012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960120"/>
            <a:ext cx="73152" cy="1920240"/>
          </a:xfrm>
          <a:prstGeom prst="rect">
            <a:avLst/>
          </a:prstGeom>
          <a:solidFill>
            <a:srgbClr val="E2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Training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490472"/>
            <a:ext cx="31089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A"/>
                </a:solidFill>
                <a:latin typeface="Aptos"/>
              </a:defRPr>
            </a:pPr>
            <a:r>
              <a:t>Seed = 42</a:t>
            </a:r>
            <a:br/>
            <a:r>
              <a:t>Batch size = 128</a:t>
            </a:r>
            <a:br/>
            <a:r>
              <a:t>Epochs = 55</a:t>
            </a:r>
            <a:br/>
            <a:r>
              <a:t>Learning rate = 0.001</a:t>
            </a:r>
            <a:br/>
            <a:r>
              <a:t>Standardized inputs</a:t>
            </a:r>
            <a:br/>
            <a:r>
              <a:t>Binary cross-entropy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960120"/>
            <a:ext cx="3474720" cy="19202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960120"/>
            <a:ext cx="73152" cy="1920240"/>
          </a:xfrm>
          <a:prstGeom prst="rect">
            <a:avLst/>
          </a:prstGeom>
          <a:solidFill>
            <a:srgbClr val="2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490472"/>
            <a:ext cx="31089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A"/>
                </a:solidFill>
                <a:latin typeface="Aptos"/>
              </a:defRPr>
            </a:pPr>
            <a:r>
              <a:t>Prediction: accuracy, ROC-AUC, Brier score, mean uncertainty</a:t>
            </a:r>
            <a:br/>
            <a:r>
              <a:t>Scheduling: SIC failure rate, BER, outage, throughput and reliability</a:t>
            </a:r>
            <a:br/>
            <a:r>
              <a:t>80 users → 40 scheduled pairs</a:t>
            </a:r>
          </a:p>
        </p:txBody>
      </p:sp>
      <p:pic>
        <p:nvPicPr>
          <p:cNvPr id="17" name="Picture 16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54680"/>
            <a:ext cx="5394960" cy="30828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60533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E80"/>
                </a:solidFill>
                <a:latin typeface="Aptos"/>
              </a:defRPr>
            </a:pPr>
            <a:r>
              <a:t>Training loss decreases across 55 epochs.</a:t>
            </a:r>
          </a:p>
        </p:txBody>
      </p:sp>
      <p:pic>
        <p:nvPicPr>
          <p:cNvPr id="19" name="Picture 18" descr="uncertainty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154680"/>
            <a:ext cx="5394960" cy="308283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09360" y="60533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E80"/>
                </a:solidFill>
                <a:latin typeface="Aptos"/>
              </a:defRPr>
            </a:pPr>
            <a:r>
              <a:t>Prediction standard deviation is used as prediction uncertainty.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t>Actual plots generated by the submitted project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Experimental Results: SIC Failure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11C31"/>
                </a:solidFill>
                <a:latin typeface="Aptos"/>
              </a:defRPr>
            </a:pPr>
            <a:r>
              <a:t>Test-set results from the current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3317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55063"/>
            <a:ext cx="211226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676B2"/>
                </a:solidFill>
                <a:latin typeface="Aptos"/>
              </a:defRPr>
            </a:pPr>
            <a:r>
              <a:t>0.846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48839"/>
            <a:ext cx="2112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1508760"/>
            <a:ext cx="23317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36976" y="1655063"/>
            <a:ext cx="211226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A9B8"/>
                </a:solidFill>
                <a:latin typeface="Aptos"/>
              </a:defRPr>
            </a:pPr>
            <a:r>
              <a:t>0.928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2148839"/>
            <a:ext cx="2112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0136" y="1508760"/>
            <a:ext cx="23317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9864" y="1655063"/>
            <a:ext cx="211226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8F33"/>
                </a:solidFill>
                <a:latin typeface="Aptos"/>
              </a:defRPr>
            </a:pPr>
            <a:r>
              <a:t>0.122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9864" y="2148839"/>
            <a:ext cx="2112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Brier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508760"/>
            <a:ext cx="23317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1655063"/>
            <a:ext cx="211226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9668"/>
                </a:solidFill>
                <a:latin typeface="Aptos"/>
              </a:defRPr>
            </a:pPr>
            <a:r>
              <a:t>0.097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48839"/>
            <a:ext cx="2112263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5F6E80"/>
                </a:solidFill>
                <a:latin typeface="Aptos"/>
              </a:defRPr>
            </a:pPr>
            <a:r>
              <a:t>mean prediction std.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46120"/>
            <a:ext cx="534924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246120"/>
            <a:ext cx="73152" cy="2148840"/>
          </a:xfrm>
          <a:prstGeom prst="rect">
            <a:avLst/>
          </a:prstGeom>
          <a:solidFill>
            <a:srgbClr val="267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383279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What the results show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776472"/>
            <a:ext cx="4983479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D3A"/>
                </a:solidFill>
                <a:latin typeface="Aptos"/>
              </a:defRPr>
            </a:pPr>
            <a:r>
              <a:t>• The model separates failure / non-failure cases with ROC-AUC ≈ 0.93.</a:t>
            </a:r>
            <a:br/>
            <a:r>
              <a:t>• Accuracy is ≈ 84.6% on the held-out test set.</a:t>
            </a:r>
            <a:br/>
            <a:r>
              <a:t>• Brier score is included because the system uses probabilities, not only class labels.</a:t>
            </a:r>
            <a:br/>
            <a:r>
              <a:t>• Repeated predictions provide an uncertainty estimate for downstream scheduling.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46120"/>
            <a:ext cx="5257800" cy="21488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246120"/>
            <a:ext cx="73152" cy="2148840"/>
          </a:xfrm>
          <a:prstGeom prst="rect">
            <a:avLst/>
          </a:prstGeom>
          <a:solidFill>
            <a:srgbClr val="E2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383279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11C31"/>
                </a:solidFill>
                <a:latin typeface="Aptos"/>
              </a:defRPr>
            </a:pPr>
            <a:r>
              <a:t>Important limitation at this 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776472"/>
            <a:ext cx="489204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D3A"/>
                </a:solidFill>
                <a:latin typeface="Aptos"/>
              </a:defRPr>
            </a:pPr>
            <a:r>
              <a:t>The dataset is synthetic and generated by the project simulation model. Therefore, these numbers demonstrate the implemented pipeline rather than validated performance on a real wireless-network dataset.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t>Actual test metrics: outputs/metrics/model_metrics.json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Experimental Results: User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0789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C31"/>
                </a:solidFill>
                <a:latin typeface="Aptos"/>
              </a:defRPr>
            </a:pPr>
            <a:r>
              <a:t>Current run — 40 scheduled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5361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1481328"/>
            <a:ext cx="1417320" cy="411480"/>
          </a:xfrm>
          <a:prstGeom prst="rect">
            <a:avLst/>
          </a:prstGeom>
          <a:solidFill>
            <a:srgbClr val="11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15361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Conventional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481328"/>
            <a:ext cx="1417320" cy="411480"/>
          </a:xfrm>
          <a:prstGeom prst="rect">
            <a:avLst/>
          </a:prstGeom>
          <a:solidFill>
            <a:srgbClr val="11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04120" y="15361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Reliability-aware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1481328"/>
            <a:ext cx="1417320" cy="411480"/>
          </a:xfrm>
          <a:prstGeom prst="rect">
            <a:avLst/>
          </a:prstGeom>
          <a:solidFill>
            <a:srgbClr val="11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193852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Pred. SIC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93852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D3A"/>
                </a:solidFill>
                <a:latin typeface="Aptos"/>
              </a:defRPr>
            </a:pPr>
            <a:r>
              <a:t>0.190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193852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A9668"/>
                </a:solidFill>
                <a:latin typeface="Aptos"/>
              </a:defRPr>
            </a:pPr>
            <a:r>
              <a:t>0.108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5059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Observed SIC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5059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D3A"/>
                </a:solidFill>
                <a:latin typeface="Aptos"/>
              </a:defRPr>
            </a:pPr>
            <a:r>
              <a:t>0.075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45059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A9668"/>
                </a:solidFill>
                <a:latin typeface="Aptos"/>
              </a:defRPr>
            </a:pPr>
            <a:r>
              <a:t>0.000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96265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96265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D3A"/>
                </a:solidFill>
                <a:latin typeface="Aptos"/>
              </a:defRPr>
            </a:pPr>
            <a:r>
              <a:t>0.069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2962656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A9668"/>
                </a:solidFill>
                <a:latin typeface="Aptos"/>
              </a:defRPr>
            </a:pPr>
            <a:r>
              <a:t>0.039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47472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Outage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47472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D3A"/>
                </a:solidFill>
                <a:latin typeface="Aptos"/>
              </a:defRPr>
            </a:pPr>
            <a:r>
              <a:t>0.150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474720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A9668"/>
                </a:solidFill>
                <a:latin typeface="Aptos"/>
              </a:defRPr>
            </a:pPr>
            <a:r>
              <a:t>0.075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98678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Throughput (Mbps)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98678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D3A"/>
                </a:solidFill>
                <a:latin typeface="Aptos"/>
              </a:defRPr>
            </a:pPr>
            <a:r>
              <a:t>36.06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986784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A9668"/>
                </a:solidFill>
                <a:latin typeface="Aptos"/>
              </a:defRPr>
            </a:pPr>
            <a:r>
              <a:t>37.39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49884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232D3A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49884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32D3A"/>
                </a:solidFill>
                <a:latin typeface="Aptos"/>
              </a:defRPr>
            </a:pPr>
            <a:r>
              <a:t>0.850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4498848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A9668"/>
                </a:solidFill>
                <a:latin typeface="Aptos"/>
              </a:defRPr>
            </a:pPr>
            <a:r>
              <a:t>0.925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230368"/>
            <a:ext cx="434340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086600" y="5230368"/>
            <a:ext cx="73152" cy="868680"/>
          </a:xfrm>
          <a:prstGeom prst="rect">
            <a:avLst/>
          </a:prstGeom>
          <a:solidFill>
            <a:srgbClr val="2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87768" y="536752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C31"/>
                </a:solidFill>
                <a:latin typeface="Aptos"/>
              </a:defRPr>
            </a:pPr>
            <a:r>
              <a:rPr dirty="0"/>
              <a:t>Observation from this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7768" y="5594003"/>
            <a:ext cx="3977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32D3A"/>
                </a:solidFill>
                <a:latin typeface="Aptos"/>
              </a:defRPr>
            </a:pPr>
            <a:r>
              <a:rPr sz="1200" dirty="0"/>
              <a:t>Reliability-aware pairing reduced predicted risk and improved the measured reliability/throughput metrics.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rPr dirty="0"/>
              <a:t>Actual comparison: outputs/metrics/final_comparison.csv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A084B45-B705-6F21-2139-598E7644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0" y="4023393"/>
            <a:ext cx="3270779" cy="275532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A6517B5-21DA-0FAD-46AC-73E157368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48" y="958629"/>
            <a:ext cx="6564986" cy="2755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11C31"/>
                </a:solidFill>
                <a:latin typeface="Aptos Display"/>
              </a:defRPr>
            </a:pPr>
            <a:r>
              <a:t>Current Progress and 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5F6E8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9668"/>
                </a:solidFill>
                <a:latin typeface="Aptos"/>
              </a:defRPr>
            </a:pPr>
            <a:r>
              <a:t>Completed /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44752"/>
            <a:ext cx="50749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Synthetic imperfect-SIC dataset generation</a:t>
            </a:r>
          </a:p>
          <a:p>
            <a:pPr>
              <a:spcAft>
                <a:spcPts val="7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Feature preprocessing and standardization</a:t>
            </a:r>
          </a:p>
          <a:p>
            <a:pPr>
              <a:spcAft>
                <a:spcPts val="7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SIC failure predictor with uncertainty estimation</a:t>
            </a:r>
          </a:p>
          <a:p>
            <a:pPr>
              <a:spcAft>
                <a:spcPts val="7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Uncertainty estimation using repeated stochastic inference</a:t>
            </a:r>
          </a:p>
          <a:p>
            <a:pPr>
              <a:spcAft>
                <a:spcPts val="7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Conventional and reliability-aware NOMA pairing</a:t>
            </a:r>
          </a:p>
          <a:p>
            <a:pPr>
              <a:spcAft>
                <a:spcPts val="7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BER / outage / throughput / reliability evaluation</a:t>
            </a:r>
          </a:p>
          <a:p>
            <a:pPr>
              <a:spcAft>
                <a:spcPts val="7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Training, uncertainty and scheduling plots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9326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8F33"/>
                </a:solidFill>
                <a:latin typeface="Aptos"/>
              </a:defRPr>
            </a:pPr>
            <a:r>
              <a:t>Remaining / next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50749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Test with a larger / real-world wireless dataset or validated simulator</a:t>
            </a:r>
          </a:p>
          <a:p>
            <a:pPr>
              <a:spcAft>
                <a:spcPts val="8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Run repeated trials and report mean ± standard deviation</a:t>
            </a:r>
          </a:p>
          <a:p>
            <a:pPr>
              <a:spcAft>
                <a:spcPts val="8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Add stratified k-fold cross-validation and hyperparameter search</a:t>
            </a:r>
          </a:p>
          <a:p>
            <a:pPr>
              <a:spcAft>
                <a:spcPts val="8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Calibrate predicted probabilities and include a reliability diagram</a:t>
            </a:r>
          </a:p>
          <a:p>
            <a:pPr>
              <a:spcAft>
                <a:spcPts val="8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Study scheduler sensitivity to the uncertainty weight (0.50)</a:t>
            </a:r>
          </a:p>
          <a:p>
            <a:pPr>
              <a:spcAft>
                <a:spcPts val="800"/>
              </a:spcAft>
              <a:defRPr sz="1450">
                <a:solidFill>
                  <a:srgbClr val="232D3A"/>
                </a:solidFill>
                <a:latin typeface="Aptos"/>
              </a:defRPr>
            </a:pPr>
            <a:r>
              <a:t>Improve documentation, visualisation and final demonstration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715000"/>
            <a:ext cx="10835640" cy="566928"/>
          </a:xfrm>
          <a:prstGeom prst="roundRect">
            <a:avLst/>
          </a:prstGeom>
          <a:solidFill>
            <a:srgbClr val="11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843016"/>
            <a:ext cx="10378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t>2nd Review status: End-to-end prototype + initial experimental results completed; validation and refinement remain.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E80"/>
                </a:solidFill>
                <a:latin typeface="Aptos"/>
              </a:defRPr>
            </a:pPr>
            <a:r>
              <a:t>Aligned with course topics: evaluation, calibration, CV and ML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1017</Words>
  <Application>Microsoft Office PowerPoint</Application>
  <PresentationFormat>Widescreen</PresentationFormat>
  <Paragraphs>148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kireeti potluri</cp:lastModifiedBy>
  <cp:revision>7</cp:revision>
  <dcterms:created xsi:type="dcterms:W3CDTF">2013-01-27T09:14:16Z</dcterms:created>
  <dcterms:modified xsi:type="dcterms:W3CDTF">2026-09-30T05:25:09Z</dcterms:modified>
  <cp:category/>
</cp:coreProperties>
</file>